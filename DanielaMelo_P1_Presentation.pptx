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6"/>
  </p:notes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080877-9620-4D9A-A81B-F70A3B20A7A2}" v="5" dt="2026-04-01T18:28:3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Melo" userId="f8a7decbd6ba02a3" providerId="LiveId" clId="{3E0AF384-3860-46F0-8DB9-1843C87A3CF3}"/>
    <pc:docChg chg="custSel modSld">
      <pc:chgData name="Daniela Melo" userId="f8a7decbd6ba02a3" providerId="LiveId" clId="{3E0AF384-3860-46F0-8DB9-1843C87A3CF3}" dt="2026-04-01T18:29:20.062" v="372" actId="1076"/>
      <pc:docMkLst>
        <pc:docMk/>
      </pc:docMkLst>
      <pc:sldChg chg="addSp modSp mod modNotesTx">
        <pc:chgData name="Daniela Melo" userId="f8a7decbd6ba02a3" providerId="LiveId" clId="{3E0AF384-3860-46F0-8DB9-1843C87A3CF3}" dt="2026-04-01T18:29:20.062" v="372" actId="1076"/>
        <pc:sldMkLst>
          <pc:docMk/>
          <pc:sldMk cId="743909907" sldId="257"/>
        </pc:sldMkLst>
        <pc:spChg chg="mod">
          <ac:chgData name="Daniela Melo" userId="f8a7decbd6ba02a3" providerId="LiveId" clId="{3E0AF384-3860-46F0-8DB9-1843C87A3CF3}" dt="2026-04-01T18:29:15.887" v="371" actId="1076"/>
          <ac:spMkLst>
            <pc:docMk/>
            <pc:sldMk cId="743909907" sldId="257"/>
            <ac:spMk id="3" creationId="{62C76B91-B4AF-82FF-64F9-F1F56C6BC2E3}"/>
          </ac:spMkLst>
        </pc:spChg>
        <pc:graphicFrameChg chg="add mod modGraphic">
          <ac:chgData name="Daniela Melo" userId="f8a7decbd6ba02a3" providerId="LiveId" clId="{3E0AF384-3860-46F0-8DB9-1843C87A3CF3}" dt="2026-04-01T18:29:20.062" v="372" actId="1076"/>
          <ac:graphicFrameMkLst>
            <pc:docMk/>
            <pc:sldMk cId="743909907" sldId="257"/>
            <ac:graphicFrameMk id="8" creationId="{58EC46E7-1D18-46AD-3939-0FD8A6631D2A}"/>
          </ac:graphicFrameMkLst>
        </pc:graphicFrameChg>
      </pc:sldChg>
      <pc:sldChg chg="modNotesTx">
        <pc:chgData name="Daniela Melo" userId="f8a7decbd6ba02a3" providerId="LiveId" clId="{3E0AF384-3860-46F0-8DB9-1843C87A3CF3}" dt="2026-04-01T18:26:12.076" v="356" actId="20577"/>
        <pc:sldMkLst>
          <pc:docMk/>
          <pc:sldMk cId="2993838793" sldId="259"/>
        </pc:sldMkLst>
      </pc:sldChg>
      <pc:sldChg chg="addSp modSp mod">
        <pc:chgData name="Daniela Melo" userId="f8a7decbd6ba02a3" providerId="LiveId" clId="{3E0AF384-3860-46F0-8DB9-1843C87A3CF3}" dt="2026-04-01T18:24:38.875" v="213" actId="1076"/>
        <pc:sldMkLst>
          <pc:docMk/>
          <pc:sldMk cId="217427038" sldId="260"/>
        </pc:sldMkLst>
        <pc:spChg chg="add mod">
          <ac:chgData name="Daniela Melo" userId="f8a7decbd6ba02a3" providerId="LiveId" clId="{3E0AF384-3860-46F0-8DB9-1843C87A3CF3}" dt="2026-04-01T18:22:14.761" v="39" actId="20577"/>
          <ac:spMkLst>
            <pc:docMk/>
            <pc:sldMk cId="217427038" sldId="260"/>
            <ac:spMk id="2" creationId="{FE42C595-FAFD-6221-6959-CB4FDB98A034}"/>
          </ac:spMkLst>
        </pc:spChg>
        <pc:spChg chg="add mod">
          <ac:chgData name="Daniela Melo" userId="f8a7decbd6ba02a3" providerId="LiveId" clId="{3E0AF384-3860-46F0-8DB9-1843C87A3CF3}" dt="2026-04-01T18:24:38.875" v="213" actId="1076"/>
          <ac:spMkLst>
            <pc:docMk/>
            <pc:sldMk cId="217427038" sldId="260"/>
            <ac:spMk id="5" creationId="{0CC54A65-6A95-EB7D-1681-3C15C0A6DAC7}"/>
          </ac:spMkLst>
        </pc:spChg>
        <pc:picChg chg="add mod">
          <ac:chgData name="Daniela Melo" userId="f8a7decbd6ba02a3" providerId="LiveId" clId="{3E0AF384-3860-46F0-8DB9-1843C87A3CF3}" dt="2026-04-01T18:22:40.711" v="42" actId="1076"/>
          <ac:picMkLst>
            <pc:docMk/>
            <pc:sldMk cId="217427038" sldId="260"/>
            <ac:picMk id="4" creationId="{1C8CD057-CE41-9996-21FF-097CAE9A0A8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928B4-125C-439F-9136-86D5EA7768B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06C5E-FBDC-458A-81CC-3994C764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35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Monaco Grand Prix composed of a total of 78 laps for 20 drivers – I excluded all laps with a pitstop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06C5E-FBDC-458A-81CC-3994C764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15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Tire age – how many laps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06C5E-FBDC-458A-81CC-3994C76438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63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25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16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10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5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9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16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85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13DFAE3-14DB-48A7-A80F-80DDB072CE3D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8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07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25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5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7F45AC6-C491-4585-A584-9CE2AF7D5500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712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D5B1-C73E-9898-6231-F2C62467E5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Exploring Race Data from the 2024 Monaco Formula 1 Grand Prix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0F3F4-7F57-DA78-6BCD-5E6A6DE80A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Daniela Melo, 04/2/2026</a:t>
            </a:r>
          </a:p>
        </p:txBody>
      </p:sp>
    </p:spTree>
    <p:extLst>
      <p:ext uri="{BB962C8B-B14F-4D97-AF65-F5344CB8AC3E}">
        <p14:creationId xmlns:p14="http://schemas.microsoft.com/office/powerpoint/2010/main" val="2121136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11663-9DFE-EF54-43AA-98D4DEFF4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10" y="219096"/>
            <a:ext cx="4380399" cy="1290871"/>
          </a:xfrm>
        </p:spPr>
        <p:txBody>
          <a:bodyPr>
            <a:normAutofit/>
          </a:bodyPr>
          <a:lstStyle/>
          <a:p>
            <a:r>
              <a:rPr lang="en-US" sz="4000" dirty="0"/>
              <a:t>Data Overview and Key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C76B91-B4AF-82FF-64F9-F1F56C6BC2E3}"/>
              </a:ext>
            </a:extLst>
          </p:cNvPr>
          <p:cNvSpPr txBox="1"/>
          <p:nvPr/>
        </p:nvSpPr>
        <p:spPr>
          <a:xfrm>
            <a:off x="429273" y="1738837"/>
            <a:ext cx="5361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Monaco race data extracted from FastF1 python package. </a:t>
            </a:r>
          </a:p>
          <a:p>
            <a:endParaRPr lang="en-US" dirty="0"/>
          </a:p>
          <a:p>
            <a:r>
              <a:rPr lang="en-US" dirty="0"/>
              <a:t>1187 Laps used in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40A73C-7AC3-61CD-6EF0-2B958788F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159" y="463608"/>
            <a:ext cx="6761631" cy="5649259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EC46E7-1D18-46AD-3939-0FD8A6631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762606"/>
              </p:ext>
            </p:extLst>
          </p:nvPr>
        </p:nvGraphicFramePr>
        <p:xfrm>
          <a:off x="181811" y="3516437"/>
          <a:ext cx="4921348" cy="2596430"/>
        </p:xfrm>
        <a:graphic>
          <a:graphicData uri="http://schemas.openxmlformats.org/drawingml/2006/table">
            <a:tbl>
              <a:tblPr/>
              <a:tblGrid>
                <a:gridCol w="2002570">
                  <a:extLst>
                    <a:ext uri="{9D8B030D-6E8A-4147-A177-3AD203B41FA5}">
                      <a16:colId xmlns:a16="http://schemas.microsoft.com/office/drawing/2014/main" val="1978893107"/>
                    </a:ext>
                  </a:extLst>
                </a:gridCol>
                <a:gridCol w="1596820">
                  <a:extLst>
                    <a:ext uri="{9D8B030D-6E8A-4147-A177-3AD203B41FA5}">
                      <a16:colId xmlns:a16="http://schemas.microsoft.com/office/drawing/2014/main" val="644417499"/>
                    </a:ext>
                  </a:extLst>
                </a:gridCol>
                <a:gridCol w="1321958">
                  <a:extLst>
                    <a:ext uri="{9D8B030D-6E8A-4147-A177-3AD203B41FA5}">
                      <a16:colId xmlns:a16="http://schemas.microsoft.com/office/drawing/2014/main" val="3074683499"/>
                    </a:ext>
                  </a:extLst>
                </a:gridCol>
              </a:tblGrid>
              <a:tr h="3248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Variable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Description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Type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674356"/>
                  </a:ext>
                </a:extLst>
              </a:tr>
              <a:tr h="3248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Driver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Driver's name.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Categorical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656445"/>
                  </a:ext>
                </a:extLst>
              </a:tr>
              <a:tr h="3248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Compound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Type of tire used.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Categorical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469911"/>
                  </a:ext>
                </a:extLst>
              </a:tr>
              <a:tr h="6485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TyreLife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Age of tire in number of laps.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Numeric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03849"/>
                  </a:ext>
                </a:extLst>
              </a:tr>
              <a:tr h="6485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LapNumber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Lap number in Monaco race.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Numeric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870699"/>
                  </a:ext>
                </a:extLst>
              </a:tr>
              <a:tr h="3248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lap_time_s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Lap time in seconds.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Numeric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78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90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6DC1-6E03-5A26-F044-ED297A826328}"/>
              </a:ext>
            </a:extLst>
          </p:cNvPr>
          <p:cNvSpPr txBox="1">
            <a:spLocks/>
          </p:cNvSpPr>
          <p:nvPr/>
        </p:nvSpPr>
        <p:spPr>
          <a:xfrm>
            <a:off x="471993" y="192474"/>
            <a:ext cx="10058400" cy="7891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Tire Age and Type As Related to Lap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BE708-E906-6454-BD15-3CC660390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283" y="685799"/>
            <a:ext cx="7386256" cy="61184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BC577F-FC82-04ED-09A0-05AE3D91D79E}"/>
              </a:ext>
            </a:extLst>
          </p:cNvPr>
          <p:cNvSpPr txBox="1"/>
          <p:nvPr/>
        </p:nvSpPr>
        <p:spPr>
          <a:xfrm>
            <a:off x="278613" y="1114757"/>
            <a:ext cx="36643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Linear Regression Model: </a:t>
            </a:r>
          </a:p>
          <a:p>
            <a:r>
              <a:rPr lang="en-US" sz="1600" dirty="0" err="1"/>
              <a:t>lap_time_s</a:t>
            </a:r>
            <a:r>
              <a:rPr lang="en-US" sz="1600" dirty="0"/>
              <a:t> ~ </a:t>
            </a:r>
            <a:r>
              <a:rPr lang="en-US" sz="1600" dirty="0" err="1"/>
              <a:t>TyreLife</a:t>
            </a:r>
            <a:r>
              <a:rPr lang="en-US" sz="1600" dirty="0"/>
              <a:t> + C(Compound)</a:t>
            </a:r>
          </a:p>
          <a:p>
            <a:endParaRPr lang="en-US" sz="1600" dirty="0"/>
          </a:p>
          <a:p>
            <a:r>
              <a:rPr lang="en-US" sz="1600" dirty="0"/>
              <a:t>R</a:t>
            </a:r>
            <a:r>
              <a:rPr lang="en-US" sz="1600" baseline="30000" dirty="0"/>
              <a:t>2</a:t>
            </a:r>
            <a:r>
              <a:rPr lang="en-US" sz="1600" dirty="0"/>
              <a:t> = 0.245</a:t>
            </a:r>
          </a:p>
          <a:p>
            <a:r>
              <a:rPr lang="en-US" sz="1600" dirty="0"/>
              <a:t>BUT P-values all below 0.05</a:t>
            </a:r>
          </a:p>
          <a:p>
            <a:endParaRPr lang="en-US" sz="1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4080FF-978F-D389-8F1C-A1508E380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584666"/>
              </p:ext>
            </p:extLst>
          </p:nvPr>
        </p:nvGraphicFramePr>
        <p:xfrm>
          <a:off x="0" y="2999838"/>
          <a:ext cx="4493970" cy="2347491"/>
        </p:xfrm>
        <a:graphic>
          <a:graphicData uri="http://schemas.openxmlformats.org/drawingml/2006/table">
            <a:tbl>
              <a:tblPr/>
              <a:tblGrid>
                <a:gridCol w="1925987">
                  <a:extLst>
                    <a:ext uri="{9D8B030D-6E8A-4147-A177-3AD203B41FA5}">
                      <a16:colId xmlns:a16="http://schemas.microsoft.com/office/drawing/2014/main" val="960266649"/>
                    </a:ext>
                  </a:extLst>
                </a:gridCol>
                <a:gridCol w="738648">
                  <a:extLst>
                    <a:ext uri="{9D8B030D-6E8A-4147-A177-3AD203B41FA5}">
                      <a16:colId xmlns:a16="http://schemas.microsoft.com/office/drawing/2014/main" val="4260513746"/>
                    </a:ext>
                  </a:extLst>
                </a:gridCol>
                <a:gridCol w="537696">
                  <a:extLst>
                    <a:ext uri="{9D8B030D-6E8A-4147-A177-3AD203B41FA5}">
                      <a16:colId xmlns:a16="http://schemas.microsoft.com/office/drawing/2014/main" val="1495302460"/>
                    </a:ext>
                  </a:extLst>
                </a:gridCol>
                <a:gridCol w="783309">
                  <a:extLst>
                    <a:ext uri="{9D8B030D-6E8A-4147-A177-3AD203B41FA5}">
                      <a16:colId xmlns:a16="http://schemas.microsoft.com/office/drawing/2014/main" val="2255798417"/>
                    </a:ext>
                  </a:extLst>
                </a:gridCol>
                <a:gridCol w="508330">
                  <a:extLst>
                    <a:ext uri="{9D8B030D-6E8A-4147-A177-3AD203B41FA5}">
                      <a16:colId xmlns:a16="http://schemas.microsoft.com/office/drawing/2014/main" val="37246714"/>
                    </a:ext>
                  </a:extLst>
                </a:gridCol>
              </a:tblGrid>
              <a:tr h="3015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coef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 err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P&gt;|t|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412467"/>
                  </a:ext>
                </a:extLst>
              </a:tr>
              <a:tr h="30159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Intercept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81.18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0.119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685.02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559063"/>
                  </a:ext>
                </a:extLst>
              </a:tr>
              <a:tr h="60318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C(Compound)[MEDIUM]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0.3075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0.119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2.584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176939"/>
                  </a:ext>
                </a:extLst>
              </a:tr>
              <a:tr h="57055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C(Compound)[T.SOFT]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-2.1884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0.349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-6.268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085800"/>
                  </a:ext>
                </a:extLst>
              </a:tr>
              <a:tr h="57055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TyreLife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-0.0499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0.003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-18.756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573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83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C595-FAFD-6221-6959-CB4FDB98A034}"/>
              </a:ext>
            </a:extLst>
          </p:cNvPr>
          <p:cNvSpPr txBox="1">
            <a:spLocks/>
          </p:cNvSpPr>
          <p:nvPr/>
        </p:nvSpPr>
        <p:spPr>
          <a:xfrm>
            <a:off x="471993" y="192474"/>
            <a:ext cx="10058400" cy="7891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Bootstrap Estimation of Median Lap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CD057-CE41-9996-21FF-097CAE9A0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349" y="743755"/>
            <a:ext cx="7432427" cy="59217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C54A65-6A95-EB7D-1681-3C15C0A6DAC7}"/>
              </a:ext>
            </a:extLst>
          </p:cNvPr>
          <p:cNvSpPr txBox="1"/>
          <p:nvPr/>
        </p:nvSpPr>
        <p:spPr>
          <a:xfrm>
            <a:off x="664568" y="1660750"/>
            <a:ext cx="33819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Extracted 10% subset of the data. </a:t>
            </a:r>
          </a:p>
          <a:p>
            <a:endParaRPr lang="en-US" dirty="0"/>
          </a:p>
          <a:p>
            <a:r>
              <a:rPr lang="en-US" dirty="0"/>
              <a:t>Subset was resampled 5000 times. </a:t>
            </a:r>
          </a:p>
          <a:p>
            <a:endParaRPr lang="en-US" dirty="0"/>
          </a:p>
          <a:p>
            <a:r>
              <a:rPr lang="en-US" dirty="0"/>
              <a:t>95% CI: </a:t>
            </a:r>
          </a:p>
          <a:p>
            <a:r>
              <a:rPr lang="en-US" dirty="0"/>
              <a:t>Lower: 79.029</a:t>
            </a:r>
          </a:p>
          <a:p>
            <a:r>
              <a:rPr lang="en-US" dirty="0"/>
              <a:t>Upper: 80.304</a:t>
            </a:r>
          </a:p>
          <a:p>
            <a:endParaRPr lang="en-US" dirty="0"/>
          </a:p>
          <a:p>
            <a:r>
              <a:rPr lang="en-US" dirty="0"/>
              <a:t>Bootstrap median: 79.74500 s Full Sample Median:79.48400 s</a:t>
            </a:r>
          </a:p>
        </p:txBody>
      </p:sp>
    </p:spTree>
    <p:extLst>
      <p:ext uri="{BB962C8B-B14F-4D97-AF65-F5344CB8AC3E}">
        <p14:creationId xmlns:p14="http://schemas.microsoft.com/office/powerpoint/2010/main" val="2174270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</TotalTime>
  <Words>225</Words>
  <Application>Microsoft Office PowerPoint</Application>
  <PresentationFormat>Widescreen</PresentationFormat>
  <Paragraphs>68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Aptos Narrow</vt:lpstr>
      <vt:lpstr>Arial</vt:lpstr>
      <vt:lpstr>Calibri</vt:lpstr>
      <vt:lpstr>Calibri Light</vt:lpstr>
      <vt:lpstr>Retrospect</vt:lpstr>
      <vt:lpstr>Exploring Race Data from the 2024 Monaco Formula 1 Grand Prix</vt:lpstr>
      <vt:lpstr>Data Overview and Key Variables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Melo</dc:creator>
  <cp:lastModifiedBy>Daniela Melo</cp:lastModifiedBy>
  <cp:revision>1</cp:revision>
  <dcterms:created xsi:type="dcterms:W3CDTF">2026-04-01T17:35:27Z</dcterms:created>
  <dcterms:modified xsi:type="dcterms:W3CDTF">2026-04-01T18:29:25Z</dcterms:modified>
</cp:coreProperties>
</file>